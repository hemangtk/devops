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5ae19be-9acd-d69f-da52-74015a4b834d}">
          <p14:sldIdLst>
            <p14:sldId id="256"/>
            <p14:sldId id="257"/>
            <p14:sldId id="258"/>
          </p14:sldIdLst>
        </p14:section>
        <p14:section name="Architecture" id="{b3302dd3-6d6b-c58c-3441-46425aca243d}">
          <p14:sldIdLst>
            <p14:sldId id="259"/>
            <p14:sldId id="260"/>
          </p14:sldIdLst>
        </p14:section>
        <p14:section name="Delivery" id="{ad9b4bab-70e5-6d5e-976e-b55c749810ba}">
          <p14:sldIdLst>
            <p14:sldId id="261"/>
            <p14:sldId id="262"/>
          </p14:sldIdLst>
        </p14:section>
        <p14:section name="Platform" id="{42b949b0-fa6d-552d-d012-90a3e1ff7593}">
          <p14:sldIdLst>
            <p14:sldId id="263"/>
            <p14:sldId id="264"/>
            <p14:sldId id="265"/>
            <p14:sldId id="266"/>
          </p14:sldIdLst>
        </p14:section>
        <p14:section name="Close" id="{116bf191-ff16-9113-0b43-ca8ca5425972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Stacks: a small library lending desk, and the DevOps pipeline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domain is deliberately my own, not the TaskBoard reference. The interesting rules are what you may 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Stacks  ·  Hemang  ·  24bcs10209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ok circle"/>
          <p:cNvSpPr/>
          <p:nvPr/>
        </p:nvSpPr>
        <p:spPr>
          <a:xfrm>
            <a:off x="822960" y="109728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Book icon" descr="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31673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A library lending app, from commit to cluster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754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DevOps Final Capstone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Hemang  ·  Enrollment 24bcs10209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catalogue of physical copies. Each copy is on the shelf or on loan, and a loan turns overdue on its own once the due date passes.</a:t>
            </a:r>
            <a:endParaRPr lang="en-US" sz="1600" dirty="0"/>
          </a:p>
        </p:txBody>
      </p:sp>
      <p:sp>
        <p:nvSpPr>
          <p:cNvPr id="4" name="Stat API routes"/>
          <p:cNvSpPr/>
          <p:nvPr/>
        </p:nvSpPr>
        <p:spPr>
          <a:xfrm>
            <a:off x="548640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API routes</a:t>
            </a:r>
            <a:endParaRPr lang="en-US" sz="1300" dirty="0"/>
          </a:p>
        </p:txBody>
      </p:sp>
      <p:sp>
        <p:nvSpPr>
          <p:cNvPr id="7" name="Stat pytest cases"/>
          <p:cNvSpPr/>
          <p:nvPr/>
        </p:nvSpPr>
        <p:spPr>
          <a:xfrm>
            <a:off x="2514600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pytest cases</a:t>
            </a:r>
            <a:endParaRPr lang="en-US" sz="1300" dirty="0"/>
          </a:p>
        </p:txBody>
      </p:sp>
      <p:sp>
        <p:nvSpPr>
          <p:cNvPr id="10" name="Stat coverage"/>
          <p:cNvSpPr/>
          <p:nvPr/>
        </p:nvSpPr>
        <p:spPr>
          <a:xfrm>
            <a:off x="4480560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coverage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copy cannot be lent twice or withdrawn while 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Loans default to 14 days, configurable without a rebuild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"Overdue" is derived from the due date, never stored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Duplicate ISBNs blocked by a UNIQUE index, not only code</a:t>
            </a:r>
            <a:endParaRPr lang="en-US" sz="1500" dirty="0"/>
          </a:p>
        </p:txBody>
      </p:sp>
      <p:sp>
        <p:nvSpPr>
          <p:cNvPr id="14" name="App screenshot frame"/>
          <p:cNvSpPr/>
          <p:nvPr/>
        </p:nvSpPr>
        <p:spPr>
          <a:xfrm>
            <a:off x="6912864" y="1243584"/>
            <a:ext cx="4736592" cy="451713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App screenshot" descr="The Stacks web UI: shelf counts and the catalog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663440" cy="44439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3" name="Stack Backend"/>
          <p:cNvSpPr/>
          <p:nvPr/>
        </p:nvSpPr>
        <p:spPr>
          <a:xfrm>
            <a:off x="548640" y="13258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ckend circle"/>
          <p:cNvSpPr/>
          <p:nvPr/>
        </p:nvSpPr>
        <p:spPr>
          <a:xfrm>
            <a:off x="694944" y="14264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ackend icon" descr="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58138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990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13990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Python 3.12, FastAPI, SQLAlchemy, Alembic</a:t>
            </a:r>
            <a:endParaRPr lang="en-US" sz="1300" dirty="0"/>
          </a:p>
        </p:txBody>
      </p:sp>
      <p:sp>
        <p:nvSpPr>
          <p:cNvPr id="8" name="Stack Frontend"/>
          <p:cNvSpPr/>
          <p:nvPr/>
        </p:nvSpPr>
        <p:spPr>
          <a:xfrm>
            <a:off x="6172200" y="13258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rontend circle"/>
          <p:cNvSpPr/>
          <p:nvPr/>
        </p:nvSpPr>
        <p:spPr>
          <a:xfrm>
            <a:off x="6318504" y="14264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rontend icon" descr="Front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178" y="1558138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3990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13990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React 18 + Vite, served by nginx</a:t>
            </a:r>
            <a:endParaRPr lang="en-US" sz="1300" dirty="0"/>
          </a:p>
        </p:txBody>
      </p:sp>
      <p:sp>
        <p:nvSpPr>
          <p:cNvPr id="13" name="Stack Database"/>
          <p:cNvSpPr/>
          <p:nvPr/>
        </p:nvSpPr>
        <p:spPr>
          <a:xfrm>
            <a:off x="548640" y="22402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atabase circle"/>
          <p:cNvSpPr/>
          <p:nvPr/>
        </p:nvSpPr>
        <p:spPr>
          <a:xfrm>
            <a:off x="694944" y="23408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Database icon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2472538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3134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154680" y="23134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PostgreSQL 16, SQLite in tests</a:t>
            </a:r>
            <a:endParaRPr lang="en-US" sz="1300" dirty="0"/>
          </a:p>
        </p:txBody>
      </p:sp>
      <p:sp>
        <p:nvSpPr>
          <p:cNvPr id="18" name="Stack Containers"/>
          <p:cNvSpPr/>
          <p:nvPr/>
        </p:nvSpPr>
        <p:spPr>
          <a:xfrm>
            <a:off x="6172200" y="22402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ontainers circle"/>
          <p:cNvSpPr/>
          <p:nvPr/>
        </p:nvSpPr>
        <p:spPr>
          <a:xfrm>
            <a:off x="6318504" y="23408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ontainers icon" descr="Contain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8" y="2472538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23134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Containers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778240" y="23134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Docker multi-stage, non-root, Compose</a:t>
            </a:r>
            <a:endParaRPr lang="en-US" sz="1300" dirty="0"/>
          </a:p>
        </p:txBody>
      </p:sp>
      <p:sp>
        <p:nvSpPr>
          <p:cNvPr id="23" name="Stack CI/CD"/>
          <p:cNvSpPr/>
          <p:nvPr/>
        </p:nvSpPr>
        <p:spPr>
          <a:xfrm>
            <a:off x="548640" y="31546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I/CD circle"/>
          <p:cNvSpPr/>
          <p:nvPr/>
        </p:nvSpPr>
        <p:spPr>
          <a:xfrm>
            <a:off x="694944" y="32552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I/CD icon" descr="CI/C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3386938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32278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CI/CD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154680" y="32278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GitHub Actions, GHCR, SHA image tags</a:t>
            </a:r>
            <a:endParaRPr lang="en-US" sz="1300" dirty="0"/>
          </a:p>
        </p:txBody>
      </p:sp>
      <p:sp>
        <p:nvSpPr>
          <p:cNvPr id="28" name="Stack Security"/>
          <p:cNvSpPr/>
          <p:nvPr/>
        </p:nvSpPr>
        <p:spPr>
          <a:xfrm>
            <a:off x="6172200" y="31546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ecurity circle"/>
          <p:cNvSpPr/>
          <p:nvPr/>
        </p:nvSpPr>
        <p:spPr>
          <a:xfrm>
            <a:off x="6318504" y="32552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Security icon" descr="Secur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178" y="3386938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32278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778240" y="32278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Trivy, bandit, pip-audit, gitleaks</a:t>
            </a:r>
            <a:endParaRPr lang="en-US" sz="1300" dirty="0"/>
          </a:p>
        </p:txBody>
      </p:sp>
      <p:sp>
        <p:nvSpPr>
          <p:cNvPr id="33" name="Stack Infrastructure"/>
          <p:cNvSpPr/>
          <p:nvPr/>
        </p:nvSpPr>
        <p:spPr>
          <a:xfrm>
            <a:off x="548640" y="40690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nfrastructure circle"/>
          <p:cNvSpPr/>
          <p:nvPr/>
        </p:nvSpPr>
        <p:spPr>
          <a:xfrm>
            <a:off x="694944" y="416966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nfrastructure icon" descr="Infrastructur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8" y="4301338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1422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Infrastructure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3154680" y="41422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Terraform, AWS VPC + EKS, LocalStack</a:t>
            </a:r>
            <a:endParaRPr lang="en-US" sz="1300" dirty="0"/>
          </a:p>
        </p:txBody>
      </p:sp>
      <p:sp>
        <p:nvSpPr>
          <p:cNvPr id="38" name="Stack Orchestration"/>
          <p:cNvSpPr/>
          <p:nvPr/>
        </p:nvSpPr>
        <p:spPr>
          <a:xfrm>
            <a:off x="6172200" y="40690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Orchestration circle"/>
          <p:cNvSpPr/>
          <p:nvPr/>
        </p:nvSpPr>
        <p:spPr>
          <a:xfrm>
            <a:off x="6318504" y="416966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Orchestration icon" descr="Orchestrati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0178" y="4301338"/>
            <a:ext cx="285293" cy="28529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040880" y="41422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Orchestration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8778240" y="41422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Kubernetes, Helm 3, Ingress, HPA</a:t>
            </a:r>
            <a:endParaRPr lang="en-US" sz="1300" dirty="0"/>
          </a:p>
        </p:txBody>
      </p:sp>
      <p:sp>
        <p:nvSpPr>
          <p:cNvPr id="43" name="Stack GitOps"/>
          <p:cNvSpPr/>
          <p:nvPr/>
        </p:nvSpPr>
        <p:spPr>
          <a:xfrm>
            <a:off x="548640" y="49834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GitOps circle"/>
          <p:cNvSpPr/>
          <p:nvPr/>
        </p:nvSpPr>
        <p:spPr>
          <a:xfrm>
            <a:off x="694944" y="508406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GitOps icon" descr="GitOp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618" y="5215738"/>
            <a:ext cx="285293" cy="285293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417320" y="50566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GitOps</a:t>
            </a:r>
            <a:endParaRPr lang="en-US" sz="1600" dirty="0"/>
          </a:p>
        </p:txBody>
      </p:sp>
      <p:sp>
        <p:nvSpPr>
          <p:cNvPr id="47" name="Text 36"/>
          <p:cNvSpPr txBox="1"/>
          <p:nvPr/>
        </p:nvSpPr>
        <p:spPr>
          <a:xfrm>
            <a:off x="3154680" y="50566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Argo CD, auto-sync with self-heal</a:t>
            </a:r>
            <a:endParaRPr lang="en-US" sz="1300" dirty="0"/>
          </a:p>
        </p:txBody>
      </p:sp>
      <p:sp>
        <p:nvSpPr>
          <p:cNvPr id="48" name="Stack Observability"/>
          <p:cNvSpPr/>
          <p:nvPr/>
        </p:nvSpPr>
        <p:spPr>
          <a:xfrm>
            <a:off x="6172200" y="498348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Observability circle"/>
          <p:cNvSpPr/>
          <p:nvPr/>
        </p:nvSpPr>
        <p:spPr>
          <a:xfrm>
            <a:off x="6318504" y="508406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0" name="Observability icon" descr="Observabilit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0178" y="5215738"/>
            <a:ext cx="285293" cy="285293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040880" y="50566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Observability</a:t>
            </a:r>
            <a:endParaRPr lang="en-US" sz="1600" dirty="0"/>
          </a:p>
        </p:txBody>
      </p:sp>
      <p:sp>
        <p:nvSpPr>
          <p:cNvPr id="52" name="Text 40"/>
          <p:cNvSpPr txBox="1"/>
          <p:nvPr/>
        </p:nvSpPr>
        <p:spPr>
          <a:xfrm>
            <a:off x="8778240" y="50566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Prometheus, Grafana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Cluster boundary"/>
          <p:cNvSpPr/>
          <p:nvPr/>
        </p:nvSpPr>
        <p:spPr>
          <a:xfrm>
            <a:off x="2514600" y="1325880"/>
            <a:ext cx="914400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697480" y="1389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Kubernetes  ·  namespace stacks  ·  synced by Argo CD</a:t>
            </a:r>
            <a:endParaRPr lang="en-US" sz="1200" dirty="0"/>
          </a:p>
        </p:txBody>
      </p:sp>
      <p:sp>
        <p:nvSpPr>
          <p:cNvPr id="5" name="Browser"/>
          <p:cNvSpPr/>
          <p:nvPr/>
        </p:nvSpPr>
        <p:spPr>
          <a:xfrm>
            <a:off x="548640" y="274320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stacks.local</a:t>
            </a:r>
            <a:endParaRPr lang="en-US" sz="1500" dirty="0"/>
          </a:p>
        </p:txBody>
      </p:sp>
      <p:sp>
        <p:nvSpPr>
          <p:cNvPr id="7" name="Ingress"/>
          <p:cNvSpPr/>
          <p:nvPr/>
        </p:nvSpPr>
        <p:spPr>
          <a:xfrm>
            <a:off x="28346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3464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Ingress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nginx  /  and  /api</a:t>
            </a:r>
            <a:endParaRPr lang="en-US" sz="1500" dirty="0"/>
          </a:p>
        </p:txBody>
      </p:sp>
      <p:sp>
        <p:nvSpPr>
          <p:cNvPr id="9" name="Frontend"/>
          <p:cNvSpPr/>
          <p:nvPr/>
        </p:nvSpPr>
        <p:spPr>
          <a:xfrm>
            <a:off x="5852160" y="201168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85216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React · nginx · 2 pods</a:t>
            </a:r>
            <a:endParaRPr lang="en-US" sz="1500" dirty="0"/>
          </a:p>
        </p:txBody>
      </p:sp>
      <p:sp>
        <p:nvSpPr>
          <p:cNvPr id="11" name="Backend"/>
          <p:cNvSpPr/>
          <p:nvPr/>
        </p:nvSpPr>
        <p:spPr>
          <a:xfrm>
            <a:off x="585216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5216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FastAPI · 2–8 pods (HPA)</a:t>
            </a:r>
            <a:endParaRPr lang="en-US" sz="1500" dirty="0"/>
          </a:p>
        </p:txBody>
      </p:sp>
      <p:sp>
        <p:nvSpPr>
          <p:cNvPr id="13" name="Postgres"/>
          <p:cNvSpPr/>
          <p:nvPr/>
        </p:nvSpPr>
        <p:spPr>
          <a:xfrm>
            <a:off x="9006840" y="3520440"/>
            <a:ext cx="23317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0684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 16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PVC-backed</a:t>
            </a:r>
            <a:endParaRPr lang="en-US" sz="1500" dirty="0"/>
          </a:p>
        </p:txBody>
      </p:sp>
      <p:sp>
        <p:nvSpPr>
          <p:cNvPr id="15" name="Prometheus"/>
          <p:cNvSpPr/>
          <p:nvPr/>
        </p:nvSpPr>
        <p:spPr>
          <a:xfrm>
            <a:off x="5852160" y="49377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852160" y="493776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Prometheus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scrapes /metrics</a:t>
            </a:r>
            <a:endParaRPr lang="en-US" sz="1500" dirty="0"/>
          </a:p>
        </p:txBody>
      </p:sp>
      <p:sp>
        <p:nvSpPr>
          <p:cNvPr id="17" name="Grafana"/>
          <p:cNvSpPr/>
          <p:nvPr/>
        </p:nvSpPr>
        <p:spPr>
          <a:xfrm>
            <a:off x="9006840" y="4937760"/>
            <a:ext cx="233172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06840" y="4937760"/>
            <a:ext cx="2331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dashboards</a:t>
            </a:r>
            <a:endParaRPr lang="en-US" sz="1500" dirty="0"/>
          </a:p>
        </p:txBody>
      </p:sp>
      <p:sp>
        <p:nvSpPr>
          <p:cNvPr id="19" name="Browser to Ingress"/>
          <p:cNvSpPr/>
          <p:nvPr/>
        </p:nvSpPr>
        <p:spPr>
          <a:xfrm>
            <a:off x="2194560" y="3200400"/>
            <a:ext cx="640080" cy="-7315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Ingress to frontend"/>
          <p:cNvSpPr/>
          <p:nvPr/>
        </p:nvSpPr>
        <p:spPr>
          <a:xfrm>
            <a:off x="5120640" y="246888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166360" y="2167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</a:t>
            </a:r>
            <a:endParaRPr lang="en-US" sz="1100" dirty="0"/>
          </a:p>
        </p:txBody>
      </p:sp>
      <p:sp>
        <p:nvSpPr>
          <p:cNvPr id="22" name="Ingress to backend"/>
          <p:cNvSpPr/>
          <p:nvPr/>
        </p:nvSpPr>
        <p:spPr>
          <a:xfrm>
            <a:off x="4572000" y="2926080"/>
            <a:ext cx="1280160" cy="10515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/api</a:t>
            </a:r>
            <a:endParaRPr lang="en-US" sz="1100" dirty="0"/>
          </a:p>
        </p:txBody>
      </p:sp>
      <p:sp>
        <p:nvSpPr>
          <p:cNvPr id="24" name="Backend to Postgres"/>
          <p:cNvSpPr/>
          <p:nvPr/>
        </p:nvSpPr>
        <p:spPr>
          <a:xfrm>
            <a:off x="8229600" y="3977640"/>
            <a:ext cx="7772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Prometheus scrapes backend"/>
          <p:cNvSpPr/>
          <p:nvPr/>
        </p:nvSpPr>
        <p:spPr>
          <a:xfrm>
            <a:off x="7040880" y="4937760"/>
            <a:ext cx="0" cy="-5029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Prometheus to Grafana"/>
          <p:cNvSpPr/>
          <p:nvPr/>
        </p:nvSpPr>
        <p:spPr>
          <a:xfrm>
            <a:off x="8229600" y="5367528"/>
            <a:ext cx="7772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4023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Liveness /health never touches the DB. Readiness /ready does.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commit to cluster</a:t>
            </a:r>
            <a:endParaRPr lang="en-US" sz="3400" dirty="0"/>
          </a:p>
        </p:txBody>
      </p:sp>
      <p:sp>
        <p:nvSpPr>
          <p:cNvPr id="3" name="Step Push"/>
          <p:cNvSpPr/>
          <p:nvPr/>
        </p:nvSpPr>
        <p:spPr>
          <a:xfrm>
            <a:off x="548640" y="1737360"/>
            <a:ext cx="1691640" cy="29260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ush circle"/>
          <p:cNvSpPr/>
          <p:nvPr/>
        </p:nvSpPr>
        <p:spPr>
          <a:xfrm>
            <a:off x="102870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ush icon" descr="Pu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265" y="21415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Push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29184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git push to main</a:t>
            </a:r>
            <a:endParaRPr lang="en-US" sz="1300" dirty="0"/>
          </a:p>
        </p:txBody>
      </p:sp>
      <p:sp>
        <p:nvSpPr>
          <p:cNvPr id="9" name="Flow arrow 1"/>
          <p:cNvSpPr/>
          <p:nvPr/>
        </p:nvSpPr>
        <p:spPr>
          <a:xfrm rot="5400000">
            <a:off x="2267712" y="3090672"/>
            <a:ext cx="128016" cy="182880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tep Test &amp; scan"/>
          <p:cNvSpPr/>
          <p:nvPr/>
        </p:nvSpPr>
        <p:spPr>
          <a:xfrm>
            <a:off x="2423160" y="1737360"/>
            <a:ext cx="1691640" cy="29260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st &amp; scan circle"/>
          <p:cNvSpPr/>
          <p:nvPr/>
        </p:nvSpPr>
        <p:spPr>
          <a:xfrm>
            <a:off x="290322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est &amp; scan icon" descr="Test &amp; sc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85" y="21415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32888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51460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&amp; scan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532888" y="329184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pytest, flake8, SAST, SCA, secrets</a:t>
            </a:r>
            <a:endParaRPr lang="en-US" sz="1300" dirty="0"/>
          </a:p>
        </p:txBody>
      </p:sp>
      <p:sp>
        <p:nvSpPr>
          <p:cNvPr id="16" name="Flow arrow 2"/>
          <p:cNvSpPr/>
          <p:nvPr/>
        </p:nvSpPr>
        <p:spPr>
          <a:xfrm rot="5400000">
            <a:off x="4142232" y="3090672"/>
            <a:ext cx="128016" cy="182880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ep Build &amp; push"/>
          <p:cNvSpPr/>
          <p:nvPr/>
        </p:nvSpPr>
        <p:spPr>
          <a:xfrm>
            <a:off x="4297680" y="1737360"/>
            <a:ext cx="1691640" cy="29260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uild &amp; push circle"/>
          <p:cNvSpPr/>
          <p:nvPr/>
        </p:nvSpPr>
        <p:spPr>
          <a:xfrm>
            <a:off x="4777740" y="19659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Build &amp; push icon" descr="Build &amp; pu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05" y="214152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07408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38912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&amp; push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407408" y="329184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two images to GHCR, tagged by SHA</a:t>
            </a:r>
            <a:endParaRPr lang="en-US" sz="1300" dirty="0"/>
          </a:p>
        </p:txBody>
      </p:sp>
      <p:sp>
        <p:nvSpPr>
          <p:cNvPr id="23" name="Flow arrow 3"/>
          <p:cNvSpPr/>
          <p:nvPr/>
        </p:nvSpPr>
        <p:spPr>
          <a:xfrm rot="5400000">
            <a:off x="6016752" y="3090672"/>
            <a:ext cx="128016" cy="182880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Step Release gate"/>
          <p:cNvSpPr/>
          <p:nvPr/>
        </p:nvSpPr>
        <p:spPr>
          <a:xfrm>
            <a:off x="6172200" y="1737360"/>
            <a:ext cx="1691640" cy="29260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Release gate circle"/>
          <p:cNvSpPr/>
          <p:nvPr/>
        </p:nvSpPr>
        <p:spPr>
          <a:xfrm>
            <a:off x="6652260" y="19659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Release gate icon" descr="Release g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825" y="2141525"/>
            <a:ext cx="380390" cy="38039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81928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2636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Release gate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281928" y="329184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Trivy: no fixable HIGH/CRITICAL</a:t>
            </a:r>
            <a:endParaRPr lang="en-US" sz="1300" dirty="0"/>
          </a:p>
        </p:txBody>
      </p:sp>
      <p:sp>
        <p:nvSpPr>
          <p:cNvPr id="30" name="Flow arrow 4"/>
          <p:cNvSpPr/>
          <p:nvPr/>
        </p:nvSpPr>
        <p:spPr>
          <a:xfrm rot="5400000">
            <a:off x="7891272" y="3090672"/>
            <a:ext cx="128016" cy="182880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Step GitOps bump"/>
          <p:cNvSpPr/>
          <p:nvPr/>
        </p:nvSpPr>
        <p:spPr>
          <a:xfrm>
            <a:off x="8046720" y="1737360"/>
            <a:ext cx="1691640" cy="29260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GitOps bump circle"/>
          <p:cNvSpPr/>
          <p:nvPr/>
        </p:nvSpPr>
        <p:spPr>
          <a:xfrm>
            <a:off x="8526780" y="19659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GitOps bump icon" descr="GitOps bum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345" y="2141525"/>
            <a:ext cx="380390" cy="38039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156448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813816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GitOps bump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8156448" y="329184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CI commits the tag to values-gitops</a:t>
            </a:r>
            <a:endParaRPr lang="en-US" sz="1300" dirty="0"/>
          </a:p>
        </p:txBody>
      </p:sp>
      <p:sp>
        <p:nvSpPr>
          <p:cNvPr id="37" name="Flow arrow 5"/>
          <p:cNvSpPr/>
          <p:nvPr/>
        </p:nvSpPr>
        <p:spPr>
          <a:xfrm rot="5400000">
            <a:off x="9765792" y="3090672"/>
            <a:ext cx="128016" cy="182880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Step Argo CD sync"/>
          <p:cNvSpPr/>
          <p:nvPr/>
        </p:nvSpPr>
        <p:spPr>
          <a:xfrm>
            <a:off x="9921240" y="1737360"/>
            <a:ext cx="1691640" cy="29260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Argo CD sync circle"/>
          <p:cNvSpPr/>
          <p:nvPr/>
        </p:nvSpPr>
        <p:spPr>
          <a:xfrm>
            <a:off x="10401300" y="19659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Argo CD sync icon" descr="Argo CD syn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6865" y="2141525"/>
            <a:ext cx="380390" cy="38039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030968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1001268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Argo CD sync</a:t>
            </a:r>
            <a:endParaRPr lang="en-US" sz="1600" dirty="0"/>
          </a:p>
        </p:txBody>
      </p:sp>
      <p:sp>
        <p:nvSpPr>
          <p:cNvPr id="43" name="Text 35"/>
          <p:cNvSpPr txBox="1"/>
          <p:nvPr/>
        </p:nvSpPr>
        <p:spPr>
          <a:xfrm>
            <a:off x="10030968" y="329184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rolls the pods to match Git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 never runs kubectl.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writes one file in Git; Argo CD does the deploying. A rollback is a git revert.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CI/CD: seven gated jobs</a:t>
            </a:r>
            <a:endParaRPr lang="en-US" sz="3400" dirty="0"/>
          </a:p>
        </p:txBody>
      </p:sp>
      <p:sp>
        <p:nvSpPr>
          <p:cNvPr id="3" name="GitHub Actions run graph frame"/>
          <p:cNvSpPr/>
          <p:nvPr/>
        </p:nvSpPr>
        <p:spPr>
          <a:xfrm>
            <a:off x="512064" y="1335024"/>
            <a:ext cx="11137392" cy="34838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GitHub Actions run graph" descr="GitHub Actions run 40507987650: all seven jobs g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34107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74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jobs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32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test, frontend, security and manifests run in parallel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5074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 tags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5532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image tag = 12-char commit SHA, never latest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074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 55s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5532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push to deployable images, end to 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DevSecOps: four scanners, one gate</a:t>
            </a:r>
            <a:endParaRPr lang="en-US" sz="3400" dirty="0"/>
          </a:p>
        </p:txBody>
      </p:sp>
      <p:sp>
        <p:nvSpPr>
          <p:cNvPr id="3" name="Scanner bandit"/>
          <p:cNvSpPr/>
          <p:nvPr/>
        </p:nvSpPr>
        <p:spPr>
          <a:xfrm>
            <a:off x="54864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ndit circl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bandit icon" descr="ban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SAST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our own source for insecure patterns</a:t>
            </a:r>
            <a:endParaRPr lang="en-US" sz="1300" dirty="0"/>
          </a:p>
        </p:txBody>
      </p:sp>
      <p:sp>
        <p:nvSpPr>
          <p:cNvPr id="9" name="Scanner pip-audit"/>
          <p:cNvSpPr/>
          <p:nvPr/>
        </p:nvSpPr>
        <p:spPr>
          <a:xfrm>
            <a:off x="3364992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p-audit circle"/>
          <p:cNvSpPr/>
          <p:nvPr/>
        </p:nvSpPr>
        <p:spPr>
          <a:xfrm>
            <a:off x="3593592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pip-audit icon" descr="pip-aud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17647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SCA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pip-audit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third-party dependencies with known CVEs</a:t>
            </a:r>
            <a:endParaRPr lang="en-US" sz="1300" dirty="0"/>
          </a:p>
        </p:txBody>
      </p:sp>
      <p:sp>
        <p:nvSpPr>
          <p:cNvPr id="15" name="Scanner gitleaks"/>
          <p:cNvSpPr/>
          <p:nvPr/>
        </p:nvSpPr>
        <p:spPr>
          <a:xfrm>
            <a:off x="6181344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gitleaks circle"/>
          <p:cNvSpPr/>
          <p:nvPr/>
        </p:nvSpPr>
        <p:spPr>
          <a:xfrm>
            <a:off x="6409944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gitleaks icon" descr="gitlea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7647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9944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Secrets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9944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gitleaks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full Git history for committed credentials</a:t>
            </a:r>
            <a:endParaRPr lang="en-US" sz="1300" dirty="0"/>
          </a:p>
        </p:txBody>
      </p:sp>
      <p:sp>
        <p:nvSpPr>
          <p:cNvPr id="21" name="Scanner Trivy"/>
          <p:cNvSpPr/>
          <p:nvPr/>
        </p:nvSpPr>
        <p:spPr>
          <a:xfrm>
            <a:off x="8997696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rivy circle"/>
          <p:cNvSpPr/>
          <p:nvPr/>
        </p:nvSpPr>
        <p:spPr>
          <a:xfrm>
            <a:off x="9226296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Trivy icon" descr="Triv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76479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26296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Images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9226296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226296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both images, OS and library packages</a:t>
            </a:r>
            <a:endParaRPr lang="en-US" sz="1300" dirty="0"/>
          </a:p>
        </p:txBody>
      </p:sp>
      <p:sp>
        <p:nvSpPr>
          <p:cNvPr id="27" name="Gate rule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588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gate fails only on fixable HIGH or CRITICAL findings.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 unfixable CVE that blocks every build becomes a gate people route around. Both images also run as non-root users, set in the Dockerfile.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Infrastructure as code: Terraform</a:t>
            </a:r>
            <a:endParaRPr lang="en-US" sz="3400" dirty="0"/>
          </a:p>
        </p:txBody>
      </p:sp>
      <p:sp>
        <p:nvSpPr>
          <p:cNvPr id="3" name="Terraform plan frame"/>
          <p:cNvSpPr/>
          <p:nvPr/>
        </p:nvSpPr>
        <p:spPr>
          <a:xfrm>
            <a:off x="512064" y="1335024"/>
            <a:ext cx="6108192" cy="2468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Terraform plan" descr="terraform plan: 15 to ad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23957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86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terraform plan: 15 resources, VPC, subnets, routing, IAM and EKS</a:t>
            </a:r>
            <a:endParaRPr lang="en-US" sz="1200" dirty="0"/>
          </a:p>
        </p:txBody>
      </p:sp>
      <p:sp>
        <p:nvSpPr>
          <p:cNvPr id="6" name="Applied stat"/>
          <p:cNvSpPr/>
          <p:nvPr/>
        </p:nvSpPr>
        <p:spPr>
          <a:xfrm>
            <a:off x="7040880" y="1371600"/>
            <a:ext cx="45720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1508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15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resources applied: VPC 10.30.0.0/16, two public subnets in two AZs, internet gateway, routes and IAM roles</a:t>
            </a:r>
            <a:endParaRPr lang="en-US" sz="1300" dirty="0"/>
          </a:p>
        </p:txBody>
      </p:sp>
      <p:sp>
        <p:nvSpPr>
          <p:cNvPr id="9" name="EKS caveat"/>
          <p:cNvSpPr/>
          <p:nvPr/>
        </p:nvSpPr>
        <p:spPr>
          <a:xfrm>
            <a:off x="7040880" y="3657600"/>
            <a:ext cx="45720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veat circle"/>
          <p:cNvSpPr/>
          <p:nvPr/>
        </p:nvSpPr>
        <p:spPr>
          <a:xfrm>
            <a:off x="7269480" y="385876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Caveat icon" descr="Cav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154" y="3990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Stated plainly: no EKS cluster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452628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There is no AWS account behind this project. LocalStack's free tier returns HTTP 501 for CreateCluster, so the two EKS resources do not apply. minikube stands in for the cluster.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4348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Remote-state ready, terraform.tfvars.example only, and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credentials in Git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Kubernetes and Helm</a:t>
            </a:r>
            <a:endParaRPr lang="en-US" sz="3400" dirty="0"/>
          </a:p>
        </p:txBody>
      </p:sp>
      <p:sp>
        <p:nvSpPr>
          <p:cNvPr id="3" name="One chart, three value sets circle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ne chart, three value sets icon" descr="One chart, three value s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chart, three value sets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37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values.yaml, values-dev.yaml, values-prod.yaml; Postgres migrates in an init container</a:t>
            </a:r>
            <a:endParaRPr lang="en-US" sz="1300" dirty="0"/>
          </a:p>
        </p:txBody>
      </p:sp>
      <p:sp>
        <p:nvSpPr>
          <p:cNvPr id="7" name="HPA: 2 to 8 pods circle"/>
          <p:cNvSpPr/>
          <p:nvPr/>
        </p:nvSpPr>
        <p:spPr>
          <a:xfrm>
            <a:off x="548640" y="25877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HPA: 2 to 8 pods icon" descr="HPA: 2 to 8 po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52344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963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HPA: 2 to 8 pods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9077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backend scales on 60% CPU, metrics-server supplies the samples</a:t>
            </a:r>
            <a:endParaRPr lang="en-US" sz="1300" dirty="0"/>
          </a:p>
        </p:txBody>
      </p:sp>
      <p:sp>
        <p:nvSpPr>
          <p:cNvPr id="11" name="Ingress splits one host circle"/>
          <p:cNvSpPr/>
          <p:nvPr/>
        </p:nvSpPr>
        <p:spPr>
          <a:xfrm>
            <a:off x="548640" y="375818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ngress splits one host icon" descr="Ingress splits one h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22776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6667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Ingress splits one host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/ goes to the React SPA, /api to the backend, no CORS</a:t>
            </a:r>
            <a:endParaRPr lang="en-US" sz="1300" dirty="0"/>
          </a:p>
        </p:txBody>
      </p:sp>
      <p:sp>
        <p:nvSpPr>
          <p:cNvPr id="15" name="Data survives pods circle"/>
          <p:cNvSpPr/>
          <p:nvPr/>
        </p:nvSpPr>
        <p:spPr>
          <a:xfrm>
            <a:off x="548640" y="4928616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Data survives pods icon" descr="Data survives po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093208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837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 survives pods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52486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Postgres on a PVC; deleting its pod keeps every loan</a:t>
            </a:r>
            <a:endParaRPr lang="en-US" sz="1300" dirty="0"/>
          </a:p>
        </p:txBody>
      </p:sp>
      <p:sp>
        <p:nvSpPr>
          <p:cNvPr id="19" name="Ingress rules frame"/>
          <p:cNvSpPr/>
          <p:nvPr/>
        </p:nvSpPr>
        <p:spPr>
          <a:xfrm>
            <a:off x="5998464" y="1335024"/>
            <a:ext cx="5650992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ngress rules" descr="kubectl describe ingress: / and /ap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371600"/>
            <a:ext cx="5577840" cy="1572768"/>
          </a:xfrm>
          <a:prstGeom prst="rect">
            <a:avLst/>
          </a:prstGeom>
        </p:spPr>
      </p:pic>
      <p:sp>
        <p:nvSpPr>
          <p:cNvPr id="21" name="HPA status frame"/>
          <p:cNvSpPr/>
          <p:nvPr/>
        </p:nvSpPr>
        <p:spPr>
          <a:xfrm>
            <a:off x="5998464" y="3346704"/>
            <a:ext cx="5650992" cy="1591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HPA status" descr="kubectl get hpa: stacks-backend 2 to 8 replicas at 60% CP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383280"/>
            <a:ext cx="5577840" cy="1517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GitOps with Argo CD</a:t>
            </a:r>
            <a:endParaRPr lang="en-US" sz="3400" dirty="0"/>
          </a:p>
        </p:txBody>
      </p:sp>
      <p:sp>
        <p:nvSpPr>
          <p:cNvPr id="3" name="Argo CD app frame"/>
          <p:cNvSpPr/>
          <p:nvPr/>
        </p:nvSpPr>
        <p:spPr>
          <a:xfrm>
            <a:off x="512064" y="1335024"/>
            <a:ext cx="7022592" cy="33192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rgo CD app" descr="Argo CD: stacks Healthy and Synced to main (d01ca4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54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Synced to the bot's commit d01ca47: "gitops: deploy stacks 471659933796"</a:t>
            </a:r>
            <a:endParaRPr lang="en-US" sz="1200" dirty="0"/>
          </a:p>
        </p:txBody>
      </p:sp>
      <p:sp>
        <p:nvSpPr>
          <p:cNvPr id="6" name="GitOps point 1"/>
          <p:cNvSpPr/>
          <p:nvPr/>
        </p:nvSpPr>
        <p:spPr>
          <a:xfrm>
            <a:off x="7863840" y="1371600"/>
            <a:ext cx="3749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426464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 is the source of truth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Application renders helm/stacks from main</a:t>
            </a:r>
            <a:endParaRPr lang="en-US" sz="1500" dirty="0"/>
          </a:p>
        </p:txBody>
      </p:sp>
      <p:sp>
        <p:nvSpPr>
          <p:cNvPr id="8" name="GitOps point 2"/>
          <p:cNvSpPr/>
          <p:nvPr/>
        </p:nvSpPr>
        <p:spPr>
          <a:xfrm>
            <a:off x="7863840" y="2395728"/>
            <a:ext cx="3749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450592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prune: true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deleted from Git, deleted from the cluster</a:t>
            </a:r>
            <a:endParaRPr lang="en-US" sz="1500" dirty="0"/>
          </a:p>
        </p:txBody>
      </p:sp>
      <p:sp>
        <p:nvSpPr>
          <p:cNvPr id="10" name="GitOps point 3"/>
          <p:cNvSpPr/>
          <p:nvPr/>
        </p:nvSpPr>
        <p:spPr>
          <a:xfrm>
            <a:off x="7863840" y="3419856"/>
            <a:ext cx="3749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3474720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selfHeal: true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manual kubectl edit is reverted</a:t>
            </a:r>
            <a:endParaRPr lang="en-US" sz="1500" dirty="0"/>
          </a:p>
        </p:txBody>
      </p:sp>
      <p:sp>
        <p:nvSpPr>
          <p:cNvPr id="12" name="GitOps point 4"/>
          <p:cNvSpPr/>
          <p:nvPr/>
        </p:nvSpPr>
        <p:spPr>
          <a:xfrm>
            <a:off x="7863840" y="4443984"/>
            <a:ext cx="3749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449884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[skip ci] on the bump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it moves the cluster, not the pipeline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Observability: Prometheus and Grafana</a:t>
            </a:r>
            <a:endParaRPr lang="en-US" sz="3400" dirty="0"/>
          </a:p>
        </p:txBody>
      </p:sp>
      <p:sp>
        <p:nvSpPr>
          <p:cNvPr id="3" name="Grafana dashboard frame"/>
          <p:cNvSpPr/>
          <p:nvPr/>
        </p:nvSpPr>
        <p:spPr>
          <a:xfrm>
            <a:off x="512064" y="1335024"/>
            <a:ext cx="7571232" cy="2788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Grafana dashboard" descr="Grafana Stacks dashboard with live metr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2715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Live dashboard during the Argo CD rollout: old pods hand over to new ones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3716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stacks_http_requests_total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stacks_http_errors_total (5xx, probes excluded)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stacks_not_ready_total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stacks_books_total, stacks_books_overdue</a:t>
            </a:r>
            <a:endParaRPr lang="en-US" sz="1300" dirty="0"/>
          </a:p>
        </p:txBody>
      </p:sp>
      <p:sp>
        <p:nvSpPr>
          <p:cNvPr id="7" name="Discovery note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8006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Prometheus finds the pods itself.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Kubernetes service discovery plus pod annotations means a new replica is scraped without editing any config. Both backend pods show as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learnings</a:t>
            </a:r>
            <a:endParaRPr lang="en-US" sz="3400" dirty="0"/>
          </a:p>
        </p:txBody>
      </p:sp>
      <p:sp>
        <p:nvSpPr>
          <p:cNvPr id="3" name="Learning 1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Derive what time decides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40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Storing OVERDUE would be wrong every midnight. Computing it from the due date cannot drift.</a:t>
            </a:r>
            <a:endParaRPr lang="en-US" sz="1400" dirty="0"/>
          </a:p>
        </p:txBody>
      </p:sp>
      <p:sp>
        <p:nvSpPr>
          <p:cNvPr id="7" name="Learning 2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Put the constraint in the database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240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handler's ISBN check is a nice message; the UNIQUE index is what prevents duplicates.</a:t>
            </a:r>
            <a:endParaRPr lang="en-US" sz="1400" dirty="0"/>
          </a:p>
        </p:txBody>
      </p:sp>
      <p:sp>
        <p:nvSpPr>
          <p:cNvPr id="11" name="Learning 3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Route order is behaviour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/api/books/stats declared after /{id} parses as an id and returns 422. It needs a test.</a:t>
            </a:r>
            <a:endParaRPr lang="en-US" sz="1400" dirty="0"/>
          </a:p>
        </p:txBody>
      </p:sp>
      <p:sp>
        <p:nvSpPr>
          <p:cNvPr id="15" name="Learning 4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readiness 503 is not an error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Counting it as one turns every healthy rollout into an alert.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commit is the only input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Tests, scans, the registry and the cluster all follow from it.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github.com/hemangtk/DevOps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Final DevOps Project/  ·  Hemang  ·  24bcs10209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cks Ink">
  <a:themeElements>
    <a:clrScheme name="Stacks Ink">
      <a:dk1>
        <a:srgbClr val="1B2432"/>
      </a:dk1>
      <a:lt1>
        <a:srgbClr val="FFFFFF"/>
      </a:lt1>
      <a:dk2>
        <a:srgbClr val="2E3B52"/>
      </a:dk2>
      <a:lt2>
        <a:srgbClr val="F3F0E8"/>
      </a:lt2>
      <a:accent1>
        <a:srgbClr val="3B5A8F"/>
      </a:accent1>
      <a:accent2>
        <a:srgbClr val="2E7D4F"/>
      </a:accent2>
      <a:accent3>
        <a:srgbClr val="B7791F"/>
      </a:accent3>
      <a:accent4>
        <a:srgbClr val="B23A3A"/>
      </a:accent4>
      <a:accent5>
        <a:srgbClr val="6B7A90"/>
      </a:accent5>
      <a:accent6>
        <a:srgbClr val="DCE4F0"/>
      </a:accent6>
      <a:hlink>
        <a:srgbClr val="3B5A8F"/>
      </a:hlink>
      <a:folHlink>
        <a:srgbClr val="6B7A90"/>
      </a:folHlink>
    </a:clrScheme>
    <a:fontScheme name="Stacks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- DevOps Final Capstone</dc:title>
  <dc:subject>PptxGenJS Presentation</dc:subject>
  <dc:creator>Hemang</dc:creator>
  <cp:lastModifiedBy>Hemang</cp:lastModifiedBy>
  <cp:revision>1</cp:revision>
  <dcterms:created xsi:type="dcterms:W3CDTF">2026-10-27T13:10:49Z</dcterms:created>
  <dcterms:modified xsi:type="dcterms:W3CDTF">2026-10-27T13:10:49Z</dcterms:modified>
</cp:coreProperties>
</file>